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6" r:id="rId17"/>
    <p:sldId id="267" r:id="rId18"/>
    <p:sldId id="268" r:id="rId19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1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91B2"/>
                </a:solidFill>
                <a:latin typeface="Calibri"/>
              </a:defRPr>
            </a:pPr>
            <a:r>
              <a:t>STARLIGHT DATA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AI-Powered Intelligent Video</a:t>
            </a:r>
            <a:br/>
            <a:r>
              <a:t>Surveillance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Calibri"/>
              </a:defRPr>
            </a:pPr>
            <a:r>
              <a:t>Detailed Project Report &amp; Concept Note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06240"/>
            <a:ext cx="27432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Prepared for: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Superintendent of Police, Kandhamal District, Odisha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Date: 19th June 2026  |  Classification: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Starlight Data Solutions |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Calibri"/>
              </a:defRPr>
            </a:pPr>
            <a:r>
              <a:t>Kandhamal District Police | 2/15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Why Passive CCTV Fails Kandhamal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383280" cy="21945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Calibri"/>
              </a:defRPr>
            </a:pPr>
            <a:r>
              <a:t>76 Cameras, Zero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1,824 hours of footage generated daily.</a:t>
            </a:r>
            <a:br/>
            <a:r>
              <a:t>Manual monitoring is humanly impossible — critical events go undetected.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383280" cy="21945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91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Calibri"/>
              </a:defRPr>
            </a:pPr>
            <a:r>
              <a:t>Stolen Vehicles Pass Undetected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Vehicles stolen from Bhubaneswar, Cuttack, Berhampur transit</a:t>
            </a:r>
            <a:br/>
            <a:r>
              <a:t>through NH-59. ANPR cameras exist but have no database link.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383280" cy="21945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91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Calibri"/>
              </a:defRPr>
            </a:pPr>
            <a:r>
              <a:t>Wanted Criminals Walk Free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031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Known criminals &amp; warrant absconders cannot be identified</a:t>
            </a:r>
            <a:br/>
            <a:r>
              <a:t>across 76 camera feeds manually. No face recognition exists.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3383280" cy="21945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Calibri"/>
              </a:defRPr>
            </a:pPr>
            <a:r>
              <a:t>Traffic Violations Go Unchallenged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Helmet, seatbelt, triple riding violations are rampant.</a:t>
            </a:r>
            <a:br/>
            <a:r>
              <a:t>Enforcement requires physical presence at every junction.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023360"/>
            <a:ext cx="3383280" cy="21945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Calibri"/>
              </a:defRPr>
            </a:pPr>
            <a:r>
              <a:t>Reactive, Not Proactive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5720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Camera footage used only after FIR is filed. No real-time</a:t>
            </a:r>
            <a:br/>
            <a:r>
              <a:t>crime detection, no pattern analysis, no prediction.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023360"/>
            <a:ext cx="3383280" cy="21945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Calibri"/>
              </a:defRPr>
            </a:pPr>
            <a:r>
              <a:t>Narcotics Transit 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5720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Kandhamal lies between Rayagada, Ganjam &amp; Boudh.</a:t>
            </a:r>
            <a:br/>
            <a:r>
              <a:t>Suspicious vehicle movement patterns go completely untracked.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Starlight Data Solutions |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Calibri"/>
              </a:defRPr>
            </a:pPr>
            <a:r>
              <a:t>Kandhamal District Police | 3/15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EXISTING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76 Cameras Already Installed — We Add the AI Brain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286000" cy="100584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75569"/>
                </a:solidFill>
                <a:latin typeface="Calibri"/>
              </a:defRPr>
            </a:pPr>
            <a:r>
              <a:t>TOTAL CAMERAS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891B2"/>
                </a:solidFill>
                <a:latin typeface="Calibri"/>
              </a:defRPr>
            </a:pPr>
            <a:r>
              <a:t>76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463040"/>
            <a:ext cx="2286000" cy="10058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75569"/>
                </a:solidFill>
                <a:latin typeface="Calibri"/>
              </a:defRPr>
            </a:pPr>
            <a:r>
              <a:t>AI-CAPABLE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A36A"/>
                </a:solidFill>
                <a:latin typeface="Calibri"/>
              </a:defRPr>
            </a:pPr>
            <a:r>
              <a:t>49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463040"/>
            <a:ext cx="2286000" cy="10058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75569"/>
                </a:solidFill>
                <a:latin typeface="Calibri"/>
              </a:defRPr>
            </a:pPr>
            <a:r>
              <a:t>ANPR CAMERAS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9770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1463040"/>
            <a:ext cx="2286000" cy="1005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75569"/>
                </a:solidFill>
                <a:latin typeface="Calibri"/>
              </a:defRPr>
            </a:pPr>
            <a:r>
              <a:t>NON-AI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75569"/>
                </a:solidFill>
                <a:latin typeface="Calibri"/>
              </a:defRPr>
            </a:pPr>
            <a:r>
              <a:t>27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31520" y="2834640"/>
          <a:ext cx="69494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560320"/>
                <a:gridCol w="1371600"/>
                <a:gridCol w="731520"/>
                <a:gridCol w="914400"/>
              </a:tblGrid>
              <a:tr h="32657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Qty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Ready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Dahua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DH-IPC-HFW4841T-ZAS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Bullet (8MP)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Dahua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DH-IPC-HFW3841TP-ZAS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Bullet (8MP)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Hikvision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ANPR 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ANPR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Hikvision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DS-2CCD3646G2T-IZS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Motorized (6MP)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Hikvision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Generic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Bullet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Bullet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8686800" y="2834640"/>
            <a:ext cx="2926080" cy="22860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3017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Calibri"/>
              </a:defRPr>
            </a:pPr>
            <a:r>
              <a:t>KEY ADVANTAGE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4747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  Zero additional camera cost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  All 49 AI cameras support RTSP/ONVIF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  ANPR cameras ready — just need DB integration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  Existing NVR for backup storage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  Fiber network already in place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Starlight Data Solutions |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Calibri"/>
              </a:defRPr>
            </a:pPr>
            <a:r>
              <a:t>Kandhamal District Police | 4/15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Transform Passive CCTVs into an Active Intelligence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2560320" cy="1463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75569"/>
                </a:solidFill>
                <a:latin typeface="Calibri"/>
              </a:defRPr>
            </a:pPr>
            <a:r>
              <a:t>76 CCTV</a:t>
            </a:r>
            <a:br/>
            <a:r>
              <a:t>Cameras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RTSP live feeds from</a:t>
            </a:r>
            <a:br/>
            <a:r>
              <a:t>all cameras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920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891B2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463040"/>
            <a:ext cx="2560320" cy="146304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554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891B2"/>
                </a:solidFill>
                <a:latin typeface="Calibri"/>
              </a:defRPr>
            </a:pPr>
            <a:r>
              <a:t>AI Processing</a:t>
            </a:r>
            <a:br/>
            <a:r>
              <a:t>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103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On-premise GPU server</a:t>
            </a:r>
            <a:br/>
            <a:r>
              <a:t>at District Control Room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920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891B2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463040"/>
            <a:ext cx="2560320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554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A36A"/>
                </a:solidFill>
                <a:latin typeface="Calibri"/>
              </a:defRPr>
            </a:pPr>
            <a:r>
              <a:t>Intelligence</a:t>
            </a:r>
            <a:br/>
            <a:r>
              <a:t>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03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ANPR + Face Recog +</a:t>
            </a:r>
            <a:br/>
            <a:r>
              <a:t>Crime + Traffic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920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891B2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463040"/>
            <a:ext cx="2560320" cy="14630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1554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2626"/>
                </a:solidFill>
                <a:latin typeface="Calibri"/>
              </a:defRPr>
            </a:pPr>
            <a:r>
              <a:t>Alert &amp;</a:t>
            </a:r>
            <a:br/>
            <a:r>
              <a:t>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103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Real-time alerts to</a:t>
            </a:r>
            <a:br/>
            <a:r>
              <a:t>SP, DSP, SHO, Patrol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383280"/>
            <a:ext cx="3474720" cy="27432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520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PHASE 1 — Non-Negotiable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840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2626"/>
                </a:solidFill>
                <a:latin typeface="Calibri"/>
              </a:defRPr>
            </a:pPr>
            <a:r>
              <a:t>3 Use Cases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297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Stolen Vehicle Detection</a:t>
            </a:r>
            <a:br/>
            <a:r>
              <a:t>Case-Linked Vehicle Alert</a:t>
            </a:r>
            <a:br/>
            <a:r>
              <a:t>Wanted Person Face Recognition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669280"/>
            <a:ext cx="1371600" cy="2743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669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Week 1-4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79" y="3383280"/>
            <a:ext cx="3474720" cy="27432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59" y="3520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PHASE 2 — Must Have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59" y="3840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97706"/>
                </a:solidFill>
                <a:latin typeface="Calibri"/>
              </a:defRPr>
            </a:pPr>
            <a:r>
              <a:t>14 Use Cases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59" y="4297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Fight Detection, Traffic Violations (6 types),</a:t>
            </a:r>
            <a:br/>
            <a:r>
              <a:t>Crowd Alert, Missing Person, ATM Security,</a:t>
            </a:r>
            <a:br/>
            <a:r>
              <a:t>Camera Tampering, Wrong Way, Overloaded Vehicle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59" y="5669280"/>
            <a:ext cx="1371600" cy="2743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59" y="5669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Week 5-12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19" y="3383280"/>
            <a:ext cx="3474720" cy="27432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9" y="3520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36A"/>
                </a:solidFill>
                <a:latin typeface="Calibri"/>
              </a:defRPr>
            </a:pPr>
            <a:r>
              <a:t>PHASE 3 — Good to Have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9" y="3840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A36A"/>
                </a:solidFill>
                <a:latin typeface="Calibri"/>
              </a:defRPr>
            </a:pPr>
            <a:r>
              <a:t>18 Use Cases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9" y="4297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Crime Heatmaps, Daily AI Reports, Narcotics (3),</a:t>
            </a:r>
            <a:br/>
            <a:r>
              <a:t>Fire Detection, Gender Safety, Weapon Detection,</a:t>
            </a:r>
            <a:br/>
            <a:r>
              <a:t>Abandoned Object, Loitering, Accident Detection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599" y="5669280"/>
            <a:ext cx="1371600" cy="274320"/>
          </a:xfrm>
          <a:prstGeom prst="roundRect">
            <a:avLst/>
          </a:prstGeom>
          <a:solidFill>
            <a:srgbClr val="16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599" y="5669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Week 13-20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Starlight Data Solutions |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Calibri"/>
              </a:defRPr>
            </a:pPr>
            <a:r>
              <a:t>Kandhamal District Police | 5/15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PHASE 1 — 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Stolen Vehicle &amp; Case-Linked Vehicle Detection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1417320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965960"/>
            <a:ext cx="2103120" cy="164592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574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91B2"/>
                </a:solidFill>
                <a:latin typeface="Calibri"/>
              </a:defRPr>
            </a:pPr>
            <a:r>
              <a:t>Camera</a:t>
            </a:r>
            <a:br/>
            <a:r>
              <a:t>Captures</a:t>
            </a:r>
            <a:br/>
            <a:r>
              <a:t>Vehicle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RTSP feed from</a:t>
            </a:r>
            <a:br/>
            <a:r>
              <a:t>29 cameras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0" y="1417320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1965960"/>
            <a:ext cx="2103120" cy="164592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20574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91B2"/>
                </a:solidFill>
                <a:latin typeface="Calibri"/>
              </a:defRPr>
            </a:pPr>
            <a:r>
              <a:t>AI Detects</a:t>
            </a:r>
            <a:br/>
            <a:r>
              <a:t>Vehicle &amp;</a:t>
            </a:r>
            <a:br/>
            <a:r>
              <a:t>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834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YOLOv8 model</a:t>
            </a:r>
            <a:br/>
            <a:r>
              <a:t>96.2% accuracy</a:t>
            </a:r>
          </a:p>
        </p:txBody>
      </p:sp>
      <p:sp>
        <p:nvSpPr>
          <p:cNvPr id="18" name="Oval 17"/>
          <p:cNvSpPr/>
          <p:nvPr/>
        </p:nvSpPr>
        <p:spPr>
          <a:xfrm>
            <a:off x="5806440" y="1417320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965960"/>
            <a:ext cx="2103120" cy="164592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20574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91B2"/>
                </a:solidFill>
                <a:latin typeface="Calibri"/>
              </a:defRPr>
            </a:pPr>
            <a:r>
              <a:t>OCR Reads</a:t>
            </a:r>
            <a:br/>
            <a:r>
              <a:t>Plate</a:t>
            </a:r>
            <a:br/>
            <a:r>
              <a:t>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834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PaddleOCR</a:t>
            </a:r>
            <a:br/>
            <a:r>
              <a:t>94.7% accuracy</a:t>
            </a:r>
          </a:p>
        </p:txBody>
      </p:sp>
      <p:sp>
        <p:nvSpPr>
          <p:cNvPr id="23" name="Oval 22"/>
          <p:cNvSpPr/>
          <p:nvPr/>
        </p:nvSpPr>
        <p:spPr>
          <a:xfrm>
            <a:off x="8138159" y="1417320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59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19" y="1965960"/>
            <a:ext cx="2103120" cy="164592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20574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91B2"/>
                </a:solidFill>
                <a:latin typeface="Calibri"/>
              </a:defRPr>
            </a:pPr>
            <a:r>
              <a:t>Database</a:t>
            </a:r>
            <a:br/>
            <a:r>
              <a:t>Match in</a:t>
            </a:r>
            <a:br/>
            <a:r>
              <a:t>&lt; 100ms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2834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Stolen DB + FIR</a:t>
            </a:r>
            <a:br/>
            <a:r>
              <a:t>+ Warrant + Watchlist</a:t>
            </a:r>
          </a:p>
        </p:txBody>
      </p:sp>
      <p:sp>
        <p:nvSpPr>
          <p:cNvPr id="28" name="Oval 27"/>
          <p:cNvSpPr/>
          <p:nvPr/>
        </p:nvSpPr>
        <p:spPr>
          <a:xfrm>
            <a:off x="10469880" y="1417320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69880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1965960"/>
            <a:ext cx="2103120" cy="164592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9800" y="20574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91B2"/>
                </a:solidFill>
                <a:latin typeface="Calibri"/>
              </a:defRPr>
            </a:pPr>
            <a:r>
              <a:t>Alert in</a:t>
            </a:r>
            <a:br/>
            <a:r>
              <a:t>&lt; 3</a:t>
            </a:r>
            <a:br/>
            <a:r>
              <a:t>Seconds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2834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Dashboard + WhatsApp</a:t>
            </a:r>
            <a:br/>
            <a:r>
              <a:t>+ Patrol notification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AI Models Used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731520" y="4343400"/>
          <a:ext cx="7772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32918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YOLOv8-Vehicle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Vehicle detection in 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YOLOv8n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96.2%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3ms/frame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PlateDetect-v2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Number plate localization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YOLOv8s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98.1%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5ms/frame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PaddleOCR-IN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Plate text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PP-OCRv4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94.7% 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8ms/plate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FAISS Matcher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Database similarity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Meta FAISS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Exact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&lt; 1ms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8961120" y="4343400"/>
            <a:ext cx="2560320" cy="16459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4480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6A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846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  End-to-end: &lt; 3 seconds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  Plate → DB match: &lt; 100ms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  Supports OD + all-India plates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  Fuzzy match for OCR errors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  Movement tracking across cameras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Starlight Data Solutions |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Calibri"/>
              </a:defRPr>
            </a:pPr>
            <a:r>
              <a:t>Kandhamal District Police | 6/15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PHASE 1 — 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Face Recognition — Wanted Persons &amp; Missing Persons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141732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965960"/>
            <a:ext cx="2103120" cy="1463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574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Calibri"/>
              </a:defRPr>
            </a:pPr>
            <a:r>
              <a:t>Camera</a:t>
            </a:r>
            <a:br/>
            <a:r>
              <a:t>Captures</a:t>
            </a:r>
            <a:br/>
            <a:r>
              <a:t>Faces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97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49 AI cameras</a:t>
            </a:r>
            <a:br/>
            <a:r>
              <a:t>@ 5-10 FPS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0" y="141732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1965960"/>
            <a:ext cx="2103120" cy="1463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20574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Calibri"/>
              </a:defRPr>
            </a:pPr>
            <a:r>
              <a:t>Face</a:t>
            </a:r>
            <a:br/>
            <a:r>
              <a:t>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697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RetinaFace</a:t>
            </a:r>
            <a:br/>
            <a:r>
              <a:t>97.3% recall</a:t>
            </a:r>
          </a:p>
        </p:txBody>
      </p:sp>
      <p:sp>
        <p:nvSpPr>
          <p:cNvPr id="18" name="Oval 17"/>
          <p:cNvSpPr/>
          <p:nvPr/>
        </p:nvSpPr>
        <p:spPr>
          <a:xfrm>
            <a:off x="5806440" y="141732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965960"/>
            <a:ext cx="2103120" cy="1463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20574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Calibri"/>
              </a:defRPr>
            </a:pPr>
            <a:r>
              <a:t>Quality</a:t>
            </a:r>
            <a:br/>
            <a:r>
              <a:t>Filter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697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Discard blurry,</a:t>
            </a:r>
            <a:br/>
            <a:r>
              <a:t>too-small faces</a:t>
            </a:r>
          </a:p>
        </p:txBody>
      </p:sp>
      <p:sp>
        <p:nvSpPr>
          <p:cNvPr id="23" name="Oval 22"/>
          <p:cNvSpPr/>
          <p:nvPr/>
        </p:nvSpPr>
        <p:spPr>
          <a:xfrm>
            <a:off x="8138159" y="141732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59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19" y="1965960"/>
            <a:ext cx="2103120" cy="1463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20574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Calibri"/>
              </a:defRPr>
            </a:pPr>
            <a:r>
              <a:t>Face</a:t>
            </a:r>
            <a:br/>
            <a:r>
              <a:t>Embedding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2697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ArcFace 512-dim</a:t>
            </a:r>
            <a:br/>
            <a:r>
              <a:t>99.77% LFW acc</a:t>
            </a:r>
          </a:p>
        </p:txBody>
      </p:sp>
      <p:sp>
        <p:nvSpPr>
          <p:cNvPr id="28" name="Oval 27"/>
          <p:cNvSpPr/>
          <p:nvPr/>
        </p:nvSpPr>
        <p:spPr>
          <a:xfrm>
            <a:off x="10469880" y="141732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69880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1965960"/>
            <a:ext cx="2103120" cy="1463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9800" y="20574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Calibri"/>
              </a:defRPr>
            </a:pPr>
            <a:r>
              <a:t>Database</a:t>
            </a:r>
            <a:br/>
            <a:r>
              <a:t>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2697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FAISS cosine</a:t>
            </a:r>
            <a:br/>
            <a:r>
              <a:t>similarity &lt; 1ms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Match &amp; Alert Logic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160520"/>
            <a:ext cx="3474720" cy="12801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206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&gt; 85% Match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4206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AUTO ALERT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5720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Instant notification to SP +</a:t>
            </a:r>
            <a:br/>
            <a:r>
              <a:t>concerned SHO + Control Room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80559" y="4160520"/>
            <a:ext cx="3474720" cy="12801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39" y="4206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70-85% Match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59" y="4206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REVIEW QUEUE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39" y="45720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Sent to control room operator</a:t>
            </a:r>
            <a:br/>
            <a:r>
              <a:t>for manual verification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599" y="4160520"/>
            <a:ext cx="347472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79" y="4206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5569"/>
                </a:solidFill>
                <a:latin typeface="Calibri"/>
              </a:defRPr>
            </a:pPr>
            <a:r>
              <a:t>&lt; 70% Match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399" y="4206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5569"/>
                </a:solidFill>
                <a:latin typeface="Calibri"/>
              </a:defRPr>
            </a:pPr>
            <a:r>
              <a:t>LOG ONLY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79" y="45720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Stored in forensic database</a:t>
            </a:r>
            <a:br/>
            <a:r>
              <a:t>for later investigation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5623560"/>
            <a:ext cx="1069848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Privacy: On-premise only (no cloud)  |  DB limited to wanted/missing persons  |  Auto-delete after 72 hrs  |  Full audit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Starlight Data Solutions |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Calibri"/>
              </a:defRPr>
            </a:pPr>
            <a:r>
              <a:t>Kandhamal District Police | 7/15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PHASE 2 — 14 USE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Crime Detection + Traffic Enforcement + System Integrity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Calibri"/>
              </a:defRPr>
            </a:pPr>
            <a:r>
              <a:t>CRIME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3474720" cy="685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Calibri"/>
              </a:defRPr>
            </a:pPr>
            <a:r>
              <a:t>Fight / Assault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Pose estimation + action classification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60320"/>
            <a:ext cx="3474720" cy="685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06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Calibri"/>
              </a:defRPr>
            </a:pPr>
            <a:r>
              <a:t>Chain Snatching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Two-wheeler proximity + rapid departure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7560"/>
            <a:ext cx="3474720" cy="685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83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Calibri"/>
              </a:defRPr>
            </a:pPr>
            <a:r>
              <a:t>ATM Vandalism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Dwell time + tool detection at ATMs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3474720" cy="685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60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Calibri"/>
              </a:defRPr>
            </a:pPr>
            <a:r>
              <a:t>Missing Person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Face recognition scan (live + past 72hr)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13716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Calibri"/>
              </a:defRPr>
            </a:pPr>
            <a:r>
              <a:t>TRAFFIC ENFORCEMENT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1783080"/>
            <a:ext cx="3840480" cy="685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1828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Calibri"/>
              </a:defRPr>
            </a:pPr>
            <a:r>
              <a:t>Helmet Violation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1031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Auto-detect + auto-challan generation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2560320"/>
            <a:ext cx="3840480" cy="685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26060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Calibri"/>
              </a:defRPr>
            </a:pPr>
            <a:r>
              <a:t>Seatbelt Violation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28803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Windshield ROI + belt classifier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3337560"/>
            <a:ext cx="3840480" cy="685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33832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Calibri"/>
              </a:defRPr>
            </a:pPr>
            <a:r>
              <a:t>Mobile Phone 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6576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Driver ROI + phone-in-hand detection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4114800"/>
            <a:ext cx="3840480" cy="685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400" y="41605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Calibri"/>
              </a:defRPr>
            </a:pPr>
            <a:r>
              <a:t>Overspeeding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4348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Multi-camera speed calculation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06240" y="4892040"/>
            <a:ext cx="3840480" cy="685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9377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Calibri"/>
              </a:defRPr>
            </a:pPr>
            <a:r>
              <a:t>Red Light Jump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5212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Signal sync + stop-line crossing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06240" y="5669280"/>
            <a:ext cx="3840480" cy="685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43400" y="57150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Calibri"/>
              </a:defRPr>
            </a:pPr>
            <a:r>
              <a:t>Triple Riding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5989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Person-count on two-wheeler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1371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Calibri"/>
              </a:defRPr>
            </a:pPr>
            <a:r>
              <a:t>SYSTEM &amp; CROWD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0" y="1783080"/>
            <a:ext cx="3474720" cy="6858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4964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Calibri"/>
              </a:defRPr>
            </a:pPr>
            <a:r>
              <a:t>Crowd Gathering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CSRNet density estimation + threshold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12480" y="2560320"/>
            <a:ext cx="3474720" cy="6858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49640" y="2606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Calibri"/>
              </a:defRPr>
            </a:pPr>
            <a:r>
              <a:t>Camera Tampering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2880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Feed quality monitor + instant alert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0" y="3337560"/>
            <a:ext cx="3474720" cy="6858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49640" y="3383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Calibri"/>
              </a:defRPr>
            </a:pPr>
            <a:r>
              <a:t>Wrong Way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964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Optical flow vs designated direction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12480" y="4114800"/>
            <a:ext cx="3474720" cy="6858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49640" y="4160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Calibri"/>
              </a:defRPr>
            </a:pPr>
            <a:r>
              <a:t>Overloaded Vehicle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964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Passenger count + cargo estimation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Starlight Data Solutions |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Calibri"/>
              </a:defRPr>
            </a:pPr>
            <a:r>
              <a:t>Kandhamal District Police | 8/15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PHASE 3 — 18 ADVANCED USE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Predictive Analytics, Narcotics Intelligence &amp; Public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6A"/>
                </a:solidFill>
                <a:latin typeface="Calibri"/>
              </a:defRPr>
            </a:pPr>
            <a:r>
              <a:t>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325880"/>
            <a:ext cx="1874519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6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32588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A36A"/>
                </a:solidFill>
                <a:latin typeface="Calibri"/>
              </a:defRPr>
            </a:pPr>
            <a:r>
              <a:t>Crime Hotspot Heatmap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572768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Predictive patrol deployment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325880"/>
            <a:ext cx="1874519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6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32588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A36A"/>
                </a:solidFill>
                <a:latin typeface="Calibri"/>
              </a:defRPr>
            </a:pPr>
            <a:r>
              <a:t>Daily AI Intelligence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572768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Auto-generated for SP/DSP at 6 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  <a:latin typeface="Calibri"/>
              </a:defRPr>
            </a:pPr>
            <a:r>
              <a:t>NARCOTICS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2103120"/>
            <a:ext cx="1874519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21031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Calibri"/>
              </a:defRPr>
            </a:pPr>
            <a:r>
              <a:t>Suspicious Vehicle Movement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350008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HUMINT-trained route anomaly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2103120"/>
            <a:ext cx="1874519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21031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Calibri"/>
              </a:defRPr>
            </a:pPr>
            <a:r>
              <a:t>Repeated Vehicle Rendezvous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350008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Spatio-temporal co-occurrence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2103120"/>
            <a:ext cx="1874519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1031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Calibri"/>
              </a:defRPr>
            </a:pPr>
            <a:r>
              <a:t>Street Drug Transaction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350008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Brief exchange pattern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Calibri"/>
              </a:defRPr>
            </a:pPr>
            <a:r>
              <a:t>CRIME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2880360"/>
            <a:ext cx="1874519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28803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Calibri"/>
              </a:defRPr>
            </a:pPr>
            <a:r>
              <a:t>Abandoned Object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127248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Static object dwell 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2880360"/>
            <a:ext cx="1874519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28803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Calibri"/>
              </a:defRPr>
            </a:pPr>
            <a:r>
              <a:t>Night Loitering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3127248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Geo-fence + time rules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2880360"/>
            <a:ext cx="1874519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8803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Calibri"/>
              </a:defRPr>
            </a:pPr>
            <a:r>
              <a:t>Weapon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127248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Knife/rod/firearm classifier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78240" y="2880360"/>
            <a:ext cx="1874519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0" y="28803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Calibri"/>
              </a:defRPr>
            </a:pPr>
            <a:r>
              <a:t>Road Accident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3127248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Collision + person-down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SAFETY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0" y="3657600"/>
            <a:ext cx="1874519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34640" y="36576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Fire &amp; Smoke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40" y="3904488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Visual CNN classifier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54880" y="3657600"/>
            <a:ext cx="1874519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36576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Eve Teasing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3904488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Persistent following detection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Calibri"/>
              </a:defRPr>
            </a:pPr>
            <a:r>
              <a:t>VEHICLE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0" y="4434840"/>
            <a:ext cx="1874519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34640" y="44348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Calibri"/>
              </a:defRPr>
            </a:pPr>
            <a:r>
              <a:t>No Parking Violation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40" y="4681728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Geo-fenced zone dwell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54880" y="4434840"/>
            <a:ext cx="1874519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46320" y="44348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Calibri"/>
              </a:defRPr>
            </a:pPr>
            <a:r>
              <a:t>Drunk Driving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46320" y="4681728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Lane-weaving trajectory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766560" y="4434840"/>
            <a:ext cx="1874519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0" y="44348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Calibri"/>
              </a:defRPr>
            </a:pPr>
            <a:r>
              <a:t>Color Tampering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4681728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CCTV vs RTO color check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778240" y="4434840"/>
            <a:ext cx="1874519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69680" y="44348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Calibri"/>
              </a:defRPr>
            </a:pPr>
            <a:r>
              <a:t>Out-of-State Vehicle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69680" y="4681728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Non-OD plate flagging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Starlight Data Solutions |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Calibri"/>
              </a:defRPr>
            </a:pPr>
            <a:r>
              <a:t>Kandhamal District Police | 9/15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100% Open Source — Zero License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566160" cy="484632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891B2"/>
                </a:solidFill>
                <a:latin typeface="Calibri"/>
              </a:defRPr>
            </a:pPr>
            <a:r>
              <a:t>AI / ML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  YOLOv8 — Object/Vehicle Detection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  RetinaFace + ArcFace — Face Recognition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  PaddleOCR v4 — Number Plate OCR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  MediaPipe — Pose Estimation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  CSRNet — Crowd Counting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  ByteTrack — Multi-Object Tracking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  NVIDIA TensorRT — Inference Optimization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566160" cy="48463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A36A"/>
                </a:solidFill>
                <a:latin typeface="Calibri"/>
              </a:defRPr>
            </a:pPr>
            <a:r>
              <a:t>Application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202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  Python FastAPI — Backend APIs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  OpenCV + FFmpeg — Video Processing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  PostgreSQL — Primary Database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  Redis — Cache + Message Queue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  FAISS — Face Embedding Search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  Docker — Containerization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  Next.js + React —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71600"/>
            <a:ext cx="3566160" cy="48463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97706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  Dual GPU Workstation (On-Premise)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  RTX 4060 Ti (16GB) — Primary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  RTX 3060 (12GB) — Secondary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  64GB RAM, 2TB NVMe SSD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  Gigabit LAN — Camera Network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  2 KVA UPS — Power Backup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  No Cloud — Complete Data Sovereignty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Starlight Data Solutions |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Calibri"/>
              </a:defRPr>
            </a:pPr>
            <a:r>
              <a:t>Kandhamal District Police | 11/15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IMPLEMENTATION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20-Week Phased Rollout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W1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W2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W3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W4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W5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W6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W7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W8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W9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W10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W11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W12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W13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W14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W15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W16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W17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W18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W19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W20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1965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C2626"/>
                </a:solidFill>
                <a:latin typeface="Calibri"/>
              </a:defRPr>
            </a:pPr>
            <a:r>
              <a:t>Phase 1: ANPR + Face Recog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60320" y="1920240"/>
            <a:ext cx="1828800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Week 1-4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2860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  Server setup &amp; network config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5146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  ANPR engine + stolen DB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7432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  Face recognition deployment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9718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  Phase 1 GO-LIVE + training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35204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Calibri"/>
              </a:defRPr>
            </a:pPr>
            <a:r>
              <a:t>Phase 2: Traffic + Crime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3474720"/>
            <a:ext cx="3657600" cy="3200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0" y="3474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Week 5-12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840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  Traffic violation models (6 types)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0690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  Fight detection + crowd monitoring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297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  Missing person + ATM 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5262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  Phase 2 GO-LIVE + auto-challan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5074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A36A"/>
                </a:solidFill>
                <a:latin typeface="Calibri"/>
              </a:defRPr>
            </a:pPr>
            <a:r>
              <a:t>Phase 3: Advanced + Analytics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5029200"/>
            <a:ext cx="3657600" cy="320040"/>
          </a:xfrm>
          <a:prstGeom prst="roundRect">
            <a:avLst/>
          </a:prstGeom>
          <a:solidFill>
            <a:srgbClr val="16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5029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Week 13-20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394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  Narcotics surveillance 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6235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  Predictive analytics + heatmaps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8521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  Advanced crime detection models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0807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  Full system GO-LIVE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Starlight Data Solutions |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Calibri"/>
              </a:defRPr>
            </a:pPr>
            <a:r>
              <a:t>Kandhamal District Police | 12/15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EXPECTED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Measurable KPIs — First 6 Months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474720" cy="22860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Stolen Vehicles</a:t>
            </a:r>
            <a:br/>
            <a:r>
              <a:t>Detected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891B2"/>
                </a:solidFill>
                <a:latin typeface="Calibri"/>
              </a:defRPr>
            </a:pPr>
            <a:r>
              <a:t>&gt; 5/month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346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Real-time ANPR matching</a:t>
            </a:r>
            <a:br/>
            <a:r>
              <a:t>across all entry 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371600"/>
            <a:ext cx="3474720" cy="2286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5087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Wanted Persons</a:t>
            </a:r>
            <a:br/>
            <a:r>
              <a:t>Identified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103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  <a:latin typeface="Calibri"/>
              </a:defRPr>
            </a:pPr>
            <a:r>
              <a:t>&gt; 2/month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8346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24x7 face scanning</a:t>
            </a:r>
            <a:br/>
            <a:r>
              <a:t>across 49 cameras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9" y="1371600"/>
            <a:ext cx="3474720" cy="22860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199" y="15087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Traffic Challans</a:t>
            </a:r>
            <a:br/>
            <a:r>
              <a:t>Auto-Generated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199" y="2103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97706"/>
                </a:solidFill>
                <a:latin typeface="Calibri"/>
              </a:defRPr>
            </a:pPr>
            <a:r>
              <a:t>&gt; 500/month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199" y="28346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Helmet, seatbelt, triple</a:t>
            </a:r>
            <a:br/>
            <a:r>
              <a:t>riding, signal violations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3474720" cy="2286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069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36A"/>
                </a:solidFill>
                <a:latin typeface="Calibri"/>
              </a:defRPr>
            </a:pPr>
            <a:r>
              <a:t>Alert Response</a:t>
            </a:r>
            <a:br/>
            <a:r>
              <a:t>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663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A36A"/>
                </a:solidFill>
                <a:latin typeface="Calibri"/>
              </a:defRPr>
            </a:pPr>
            <a:r>
              <a:t>&lt; 5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3949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From detection to</a:t>
            </a:r>
            <a:br/>
            <a:r>
              <a:t>patrol dispatch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3931920"/>
            <a:ext cx="3474720" cy="22860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59" y="4069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Camera Uptime</a:t>
            </a:r>
            <a:br/>
            <a:r>
              <a:t>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4663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891B2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59" y="53949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Tamper detection on</a:t>
            </a:r>
            <a:br/>
            <a:r>
              <a:t>all 76 cameras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599" y="3931920"/>
            <a:ext cx="3474720" cy="2286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199" y="4069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False Positive</a:t>
            </a:r>
            <a:br/>
            <a:r>
              <a:t>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199" y="4663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2626"/>
                </a:solidFill>
                <a:latin typeface="Calibri"/>
              </a:defRPr>
            </a:pPr>
            <a:r>
              <a:t>&lt; 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199" y="53949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For critical alerts</a:t>
            </a:r>
            <a:br/>
            <a:r>
              <a:t>(stolen + wanted)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Starlight Data Solutions |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Calibri"/>
              </a:defRPr>
            </a:pPr>
            <a:r>
              <a:t>Kandhamal District Police | 13/15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WHY STARLIGHT DATA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What Sets Us Apart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554480"/>
            <a:ext cx="457200" cy="4572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600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On-Premise, Not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4884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Complete data sovereignty.</a:t>
            </a:r>
            <a:br/>
            <a:r>
              <a:t>No police data leaves the district.</a:t>
            </a:r>
            <a:br/>
            <a:r>
              <a:t>Zero recurring cloud costs.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37160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3439" y="1554480"/>
            <a:ext cx="457200" cy="4572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39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799" y="1600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100% Open Source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214884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No vendor lock-in.</a:t>
            </a:r>
            <a:br/>
            <a:r>
              <a:t>No license renewals.</a:t>
            </a:r>
            <a:br/>
            <a:r>
              <a:t>Government owns everything.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599" y="137160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79" y="1554480"/>
            <a:ext cx="457200" cy="4572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9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39" y="1600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Built for Indian Conditions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199" y="214884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Models trained on Indian plates,</a:t>
            </a:r>
            <a:br/>
            <a:r>
              <a:t>Indian road conditions,</a:t>
            </a:r>
            <a:br/>
            <a:r>
              <a:t>Odisha-specific vehicle formats.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9319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114800"/>
            <a:ext cx="457200" cy="4572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160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Revenue-Generating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7091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Auto-challan system generates</a:t>
            </a:r>
            <a:br/>
            <a:r>
              <a:t>significant revenue in traffic fines.</a:t>
            </a:r>
            <a:br/>
            <a:r>
              <a:t>System pays for itself in Month 1.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59" y="39319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3439" y="4114800"/>
            <a:ext cx="457200" cy="4572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39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799" y="4160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Scalable to All Districts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59" y="47091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Once proven in Kandhamal,</a:t>
            </a:r>
            <a:br/>
            <a:r>
              <a:t>replicable across all 30</a:t>
            </a:r>
            <a:br/>
            <a:r>
              <a:t>Odisha districts with minimal cost.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599" y="39319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12479" y="4114800"/>
            <a:ext cx="457200" cy="4572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9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39" y="4160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24x7 Autonomous Operation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199" y="47091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No additional manpower needed.</a:t>
            </a:r>
            <a:br/>
            <a:r>
              <a:t>System runs independently.</a:t>
            </a:r>
            <a:br/>
            <a:r>
              <a:t>Officers only respond to alerts.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926080"/>
            <a:ext cx="210312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891B2"/>
                </a:solidFill>
                <a:latin typeface="Calibri"/>
              </a:defRPr>
            </a:pPr>
            <a:r>
              <a:t>Starlight Data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We are ready to transform Kandhamal's CCTV infrastructure</a:t>
            </a:r>
            <a:br/>
            <a:r>
              <a:t>into an intelligent, proactive policing platform.</a:t>
            </a:r>
            <a:br/>
            <a:br/>
            <a:r>
              <a:t>Deployment begins within 7 days of approval.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Contact: Starlight Data Solutions | Confidential - For Official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